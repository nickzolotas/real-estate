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5aa666f30_0_98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g3e5aa666f30_0_98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e5aa666f30_0_98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5b21c4518_0_0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g3e5b21c4518_0_0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e5b21c4518_0_0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5b21c4518_0_6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g3e5b21c4518_0_6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e5b21c4518_0_6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5b21c4518_2_49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g3e5b21c4518_2_49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e5b21c4518_2_49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5b21c4518_2_81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g3e5b21c4518_2_81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e5b21c4518_2_81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1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5aa666f30_0_167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g3e5aa666f30_0_167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e5aa666f30_0_167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5aa666f30_0_6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g3e5aa666f30_0_6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e5aa666f30_0_6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5aa666f30_0_114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g3e5aa666f30_0_114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e5aa666f30_0_114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p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9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9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0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" name="Google Shape;439;p10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0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p1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5" name="Google Shape;455;p1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1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e5b21c4518_2_20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g3e5b21c4518_2_20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e5b21c4518_2_20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e5e34c4aca_0_3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9" name="Google Shape;479;g3e5e34c4aca_0_3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e5e34c4aca_0_3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e5b21c4518_2_8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7" name="Google Shape;487;g3e5b21c4518_2_8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3e5b21c4518_2_8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e5e34c4aca_0_18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5" name="Google Shape;495;g3e5e34c4aca_0_18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3e5e34c4aca_0_18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e5e34c4aca_0_24:notes"/>
          <p:cNvSpPr/>
          <p:nvPr>
            <p:ph idx="2" type="sldImg"/>
          </p:nvPr>
        </p:nvSpPr>
        <p:spPr>
          <a:xfrm>
            <a:off x="685800" y="1143000"/>
            <a:ext cx="54861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g3e5e34c4aca_0_24:notes"/>
          <p:cNvSpPr txBox="1"/>
          <p:nvPr>
            <p:ph idx="1" type="body"/>
          </p:nvPr>
        </p:nvSpPr>
        <p:spPr>
          <a:xfrm>
            <a:off x="685800" y="4400640"/>
            <a:ext cx="54861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e5e34c4aca_0_24:notes"/>
          <p:cNvSpPr txBox="1"/>
          <p:nvPr>
            <p:ph idx="12" type="sldNum"/>
          </p:nvPr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1" name="Google Shape;511;p1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004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65760" y="747480"/>
            <a:ext cx="59433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Ιστοσελίδα</a:t>
            </a:r>
            <a:endParaRPr b="0" sz="4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Μεσιτικού Γραφείου</a:t>
            </a:r>
            <a:endParaRPr b="0" sz="4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65760" y="2895600"/>
            <a:ext cx="59433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-US" sz="1800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Αλεπότρυπα 2026</a:t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65760" y="3535680"/>
            <a:ext cx="59433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A0B4C8"/>
                </a:solidFill>
                <a:latin typeface="Calibri"/>
                <a:ea typeface="Calibri"/>
                <a:cs typeface="Calibri"/>
                <a:sym typeface="Calibri"/>
              </a:rPr>
              <a:t>RUP | UML | React · Node.js · Java · PostgreSQL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583680" y="365760"/>
            <a:ext cx="2285700" cy="438870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0" y="4754880"/>
            <a:ext cx="9143640" cy="38844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74320" y="4773240"/>
            <a:ext cx="85950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A0B4C8"/>
                </a:solidFill>
                <a:latin typeface="Calibri"/>
                <a:ea typeface="Calibri"/>
                <a:cs typeface="Calibri"/>
                <a:sym typeface="Calibri"/>
              </a:rPr>
              <a:t>Ανάπτυξη Λογισμικού</a:t>
            </a:r>
            <a:endParaRPr b="0" sz="1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3" title="log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8898" y="1277873"/>
            <a:ext cx="1755275" cy="175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5760" y="91440"/>
            <a:ext cx="8412120" cy="73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Περιγραφή Θέματος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74320" y="1097280"/>
            <a:ext cx="5028840" cy="356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1234440"/>
            <a:ext cx="46630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Τι φτιάχνουμε;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1645920"/>
            <a:ext cx="4663080" cy="2742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Ιστοσελίδα μεσιτικού γραφείου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για αγορά, πώληση και ενοικίαση ακινήτων.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Τελικοί Χρήστες: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Πελάτες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Μεσίτες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Διαχειριστές (Admin)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Support Staff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577840" y="1097280"/>
            <a:ext cx="3291480" cy="3565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760720" y="1234440"/>
            <a:ext cx="29257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669280" y="1691640"/>
            <a:ext cx="3017160" cy="38376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760720" y="1728360"/>
            <a:ext cx="1188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903720" y="1728360"/>
            <a:ext cx="16455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React.js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669280" y="2167200"/>
            <a:ext cx="3017160" cy="38376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760720" y="2203560"/>
            <a:ext cx="1188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Server: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903720" y="2203560"/>
            <a:ext cx="16455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Node.js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669280" y="2642760"/>
            <a:ext cx="3017160" cy="38376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760720" y="2679120"/>
            <a:ext cx="1188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903720" y="2679120"/>
            <a:ext cx="16455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669280" y="3117960"/>
            <a:ext cx="3017160" cy="38376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760720" y="3154680"/>
            <a:ext cx="1188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Database: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903720" y="3154680"/>
            <a:ext cx="16455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669280" y="3593520"/>
            <a:ext cx="3017160" cy="38376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760720" y="3630240"/>
            <a:ext cx="1188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Methodology: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903720" y="3630240"/>
            <a:ext cx="16455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RUP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669280" y="4069080"/>
            <a:ext cx="3017160" cy="38376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2A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760720" y="4105800"/>
            <a:ext cx="1188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Modeling: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903720" y="4105800"/>
            <a:ext cx="16455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 UML Diagrams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0" y="0"/>
            <a:ext cx="9143700" cy="9141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65760" y="91440"/>
            <a:ext cx="84120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Το Πρόβλημα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42750" y="1186750"/>
            <a:ext cx="8412000" cy="356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Η αναζήτηση, καταχώρηση και διαχείριση ακινήτων γίνεται συχνά χρονοβόρα και χωρίς οργάνωση. 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0" y="0"/>
            <a:ext cx="9143700" cy="9141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365760" y="91440"/>
            <a:ext cx="84120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Η Λύση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365750" y="1096700"/>
            <a:ext cx="8412000" cy="356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Η λύση είναι η ανάπτυξη της Αλεπότρυπας, μιας σύγχρονης ιστοσελίδας μεσιτικού γραφείου, μέσω της οποίας οι χρήστες θα μπορούν να αναζητούν ακίνητα με ασφάλεια. Παράλληλα, ο διαχειριστής θα έχει τη δυνατότητα να διαχειρίζεται τα ακίνητα, τις αγγελίες και τους χρήστες, προσφέροντας μια οργανωμένη, γρήγορη και αξιόπιστη πλατφόρμα.</a:t>
            </a:r>
            <a:endParaRPr sz="2300"/>
          </a:p>
        </p:txBody>
      </p:sp>
      <p:pic>
        <p:nvPicPr>
          <p:cNvPr id="72" name="Google Shape;72;p6" title="log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1125" y="3508625"/>
            <a:ext cx="1634875" cy="163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/>
          <p:nvPr/>
        </p:nvSpPr>
        <p:spPr>
          <a:xfrm>
            <a:off x="0" y="0"/>
            <a:ext cx="9143700" cy="9141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365760" y="91440"/>
            <a:ext cx="84120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Λειτουργικές Απαιτήσεις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171700" y="1146850"/>
            <a:ext cx="2734500" cy="144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solidFill>
                  <a:schemeClr val="dk1"/>
                </a:solidFill>
              </a:rPr>
              <a:t>Το σύστημα πρέπει να επιτρέπει εγγραφή και σύνδεση χρηστών.</a:t>
            </a:r>
            <a:endParaRPr sz="2300"/>
          </a:p>
        </p:txBody>
      </p:sp>
      <p:sp>
        <p:nvSpPr>
          <p:cNvPr id="81" name="Google Shape;81;p7"/>
          <p:cNvSpPr/>
          <p:nvPr/>
        </p:nvSpPr>
        <p:spPr>
          <a:xfrm>
            <a:off x="744875" y="1054713"/>
            <a:ext cx="1588140" cy="436374"/>
          </a:xfrm>
          <a:prstGeom prst="flowChartTerminator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1. Διαχείριση Χρηστών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197850" y="3232725"/>
            <a:ext cx="2734500" cy="144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Ο χρήστης να μπορεί να βλέπει τα στοιχεία και τις φωτογραφίες κάθε ακινήτου.</a:t>
            </a:r>
            <a:endParaRPr sz="2300"/>
          </a:p>
        </p:txBody>
      </p:sp>
      <p:sp>
        <p:nvSpPr>
          <p:cNvPr id="83" name="Google Shape;83;p7"/>
          <p:cNvSpPr/>
          <p:nvPr/>
        </p:nvSpPr>
        <p:spPr>
          <a:xfrm>
            <a:off x="771013" y="3113125"/>
            <a:ext cx="1588140" cy="436374"/>
          </a:xfrm>
          <a:prstGeom prst="flowChartTerminator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4. Προβολή Ακινήτων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3178625" y="3232725"/>
            <a:ext cx="2734500" cy="144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Ο χρήστης να μπορεί να προσθέτει/αφαιρεί ακίνητα από τα αγαπημένα.</a:t>
            </a:r>
            <a:endParaRPr sz="2300"/>
          </a:p>
        </p:txBody>
      </p:sp>
      <p:sp>
        <p:nvSpPr>
          <p:cNvPr id="85" name="Google Shape;85;p7"/>
          <p:cNvSpPr/>
          <p:nvPr/>
        </p:nvSpPr>
        <p:spPr>
          <a:xfrm>
            <a:off x="3777938" y="3113125"/>
            <a:ext cx="1588140" cy="436374"/>
          </a:xfrm>
          <a:prstGeom prst="flowChartTerminator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5. Αγαπημένα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6185550" y="1143125"/>
            <a:ext cx="2734500" cy="144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Ο χρήστης να μπορεί να αναζητά ακίνητα με βάση περιοχή, τύπο (αγορά/ενοικίαση), μέγεθος, τιμή</a:t>
            </a:r>
            <a:endParaRPr sz="2300"/>
          </a:p>
        </p:txBody>
      </p:sp>
      <p:sp>
        <p:nvSpPr>
          <p:cNvPr id="87" name="Google Shape;87;p7"/>
          <p:cNvSpPr/>
          <p:nvPr/>
        </p:nvSpPr>
        <p:spPr>
          <a:xfrm>
            <a:off x="6666662" y="1010125"/>
            <a:ext cx="1772280" cy="436374"/>
          </a:xfrm>
          <a:prstGeom prst="flowChartTerminator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3. Αναζήτηση Ακινήτων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3178638" y="1143125"/>
            <a:ext cx="2734500" cy="144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Ο πωλητής να καταχωρεί, επεξεργάζεται, διαγράφει και να αλλάζει την κατάσταση μιας αγγελίας (διαθέσιμο, ενοικιασμένο, πωλημένο). </a:t>
            </a:r>
            <a:endParaRPr sz="2300"/>
          </a:p>
        </p:txBody>
      </p:sp>
      <p:sp>
        <p:nvSpPr>
          <p:cNvPr id="89" name="Google Shape;89;p7"/>
          <p:cNvSpPr/>
          <p:nvPr/>
        </p:nvSpPr>
        <p:spPr>
          <a:xfrm>
            <a:off x="6185550" y="3237529"/>
            <a:ext cx="2734500" cy="144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Ο χρήστης να μπορεί να βαθμολογεί ακίνητα και να προσθέτει σχόλια.</a:t>
            </a:r>
            <a:endParaRPr sz="2300"/>
          </a:p>
        </p:txBody>
      </p:sp>
      <p:sp>
        <p:nvSpPr>
          <p:cNvPr id="90" name="Google Shape;90;p7"/>
          <p:cNvSpPr/>
          <p:nvPr/>
        </p:nvSpPr>
        <p:spPr>
          <a:xfrm>
            <a:off x="6870713" y="3113125"/>
            <a:ext cx="1588140" cy="436374"/>
          </a:xfrm>
          <a:prstGeom prst="flowChartTerminator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6. Αξιολογήσεις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3742150" y="1054713"/>
            <a:ext cx="1659690" cy="436374"/>
          </a:xfrm>
          <a:prstGeom prst="flowChartTerminator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2. Διαχείριση Αγγελιών</a:t>
            </a:r>
            <a:endParaRPr b="1"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/>
        </p:nvSpPr>
        <p:spPr>
          <a:xfrm>
            <a:off x="0" y="0"/>
            <a:ext cx="9143700" cy="9141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365760" y="91440"/>
            <a:ext cx="84120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Λειτουργικές Απαιτήσεις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4945525" y="1124150"/>
            <a:ext cx="2734500" cy="1832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Ο διαχειριστής να μπορεί να προσθέτει, να επεξεργάζεται και να διαγράφει χρήστες και αγγελίες.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Ο διαχειριστής να μπορεί να προβάλλει όλα τα στοιχεία του συστήματος.</a:t>
            </a:r>
            <a:endParaRPr sz="2300"/>
          </a:p>
        </p:txBody>
      </p:sp>
      <p:sp>
        <p:nvSpPr>
          <p:cNvPr id="100" name="Google Shape;100;p8"/>
          <p:cNvSpPr/>
          <p:nvPr/>
        </p:nvSpPr>
        <p:spPr>
          <a:xfrm>
            <a:off x="5518700" y="1033388"/>
            <a:ext cx="1588140" cy="436374"/>
          </a:xfrm>
          <a:prstGeom prst="flowChartTerminator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8. Διαχείρηση από Διαχειριστή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1324275" y="1125925"/>
            <a:ext cx="2734500" cy="1832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Ο χρήστης να μπορεί να υποβάλλει αναφορά για αγγελία.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Το προσωπικό υποστήριξης να μπορεί να διαβάζει και να απαντά σε αναφορές.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Να ενημερώνεται η κατάσταση μιας αναφοράς.</a:t>
            </a:r>
            <a:endParaRPr sz="2300"/>
          </a:p>
        </p:txBody>
      </p:sp>
      <p:sp>
        <p:nvSpPr>
          <p:cNvPr id="102" name="Google Shape;102;p8"/>
          <p:cNvSpPr/>
          <p:nvPr/>
        </p:nvSpPr>
        <p:spPr>
          <a:xfrm>
            <a:off x="1897450" y="1033388"/>
            <a:ext cx="1588140" cy="436374"/>
          </a:xfrm>
          <a:prstGeom prst="flowChartTerminator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7. Αναφορές / Reports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1324275" y="3169875"/>
            <a:ext cx="2734500" cy="1832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Ο πωλητής να μπορεί να προσθέτει/αφαιρεί φωτογραφίες σε αγγελίες.</a:t>
            </a:r>
            <a:endParaRPr sz="2300"/>
          </a:p>
        </p:txBody>
      </p:sp>
      <p:sp>
        <p:nvSpPr>
          <p:cNvPr id="104" name="Google Shape;104;p8"/>
          <p:cNvSpPr/>
          <p:nvPr/>
        </p:nvSpPr>
        <p:spPr>
          <a:xfrm>
            <a:off x="1923575" y="3104650"/>
            <a:ext cx="1588140" cy="436374"/>
          </a:xfrm>
          <a:prstGeom prst="flowChartTerminator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9. Διαχείρηση Φωτογραφιών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4945525" y="3166309"/>
            <a:ext cx="2734500" cy="1832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Οι ενδιαφερόμενοι χρήστες να μπορούν να επικοινωνούν με τον πωλητή σχετικά με ένα ακίνητο.</a:t>
            </a:r>
            <a:endParaRPr sz="2300"/>
          </a:p>
        </p:txBody>
      </p:sp>
      <p:sp>
        <p:nvSpPr>
          <p:cNvPr id="106" name="Google Shape;106;p8"/>
          <p:cNvSpPr/>
          <p:nvPr/>
        </p:nvSpPr>
        <p:spPr>
          <a:xfrm>
            <a:off x="5518700" y="3104650"/>
            <a:ext cx="1588140" cy="436374"/>
          </a:xfrm>
          <a:prstGeom prst="flowChartTerminator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10. Επικοινωνία Χρηστών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/>
          <p:nvPr/>
        </p:nvSpPr>
        <p:spPr>
          <a:xfrm>
            <a:off x="0" y="0"/>
            <a:ext cx="9143700" cy="9141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/>
          <p:nvPr/>
        </p:nvSpPr>
        <p:spPr>
          <a:xfrm>
            <a:off x="365760" y="91440"/>
            <a:ext cx="84120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Μη Λειτουργικές Απαιτήσεις</a:t>
            </a:r>
            <a:endParaRPr b="1"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171700" y="1230748"/>
            <a:ext cx="2734500" cy="154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Οι σελίδες πρέπει να φορτώνουν γρήγορα.</a:t>
            </a:r>
            <a:endParaRPr sz="2300"/>
          </a:p>
        </p:txBody>
      </p:sp>
      <p:sp>
        <p:nvSpPr>
          <p:cNvPr id="115" name="Google Shape;115;p9"/>
          <p:cNvSpPr/>
          <p:nvPr/>
        </p:nvSpPr>
        <p:spPr>
          <a:xfrm>
            <a:off x="744875" y="1140523"/>
            <a:ext cx="1588140" cy="436374"/>
          </a:xfrm>
          <a:prstGeom prst="flowChartTerminator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</a:rPr>
              <a:t>1. Απόδοση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71775" y="3253725"/>
            <a:ext cx="2734500" cy="154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Η εφαρμογή πρέπει να λειτουργεί σωστά σε οποιαδήποτε πλατφόρμα και συσκευή</a:t>
            </a:r>
            <a:endParaRPr sz="2300"/>
          </a:p>
        </p:txBody>
      </p:sp>
      <p:sp>
        <p:nvSpPr>
          <p:cNvPr id="117" name="Google Shape;117;p9"/>
          <p:cNvSpPr/>
          <p:nvPr/>
        </p:nvSpPr>
        <p:spPr>
          <a:xfrm>
            <a:off x="771013" y="3156025"/>
            <a:ext cx="1588140" cy="436374"/>
          </a:xfrm>
          <a:prstGeom prst="flowChartTerminator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</a:rPr>
              <a:t>4. Συμβατότητα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3204750" y="3253725"/>
            <a:ext cx="2734500" cy="154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Ο κώδικας πρέπει να είναι τεκμηριωμένος και οργανωμένος ώστε να διευκολύνεται η συντήρηση και η αναβάθμιση.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3777925" y="3156025"/>
            <a:ext cx="1588140" cy="436374"/>
          </a:xfrm>
          <a:prstGeom prst="flowChartTerminator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</a:rPr>
              <a:t>5. Συντηρησιμότητα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6185550" y="1228936"/>
            <a:ext cx="2734500" cy="154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Το περιβάλλον χρήστη και η πλοήγηση μεταξύ των σελίδων πρέπει να είναι απλό και εύκολο στη χρήση.</a:t>
            </a:r>
            <a:endParaRPr sz="2300"/>
          </a:p>
        </p:txBody>
      </p:sp>
      <p:sp>
        <p:nvSpPr>
          <p:cNvPr id="121" name="Google Shape;121;p9"/>
          <p:cNvSpPr/>
          <p:nvPr/>
        </p:nvSpPr>
        <p:spPr>
          <a:xfrm>
            <a:off x="6758713" y="1140523"/>
            <a:ext cx="1588140" cy="436374"/>
          </a:xfrm>
          <a:prstGeom prst="flowChartTerminator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</a:rPr>
              <a:t>3. Ευχρηστία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3178625" y="1228935"/>
            <a:ext cx="2734500" cy="154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Οι κωδικοί πρόσβασης πρέπει να αποθηκεύονται κρυπτογραφημένοι.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Η πρόσβαση στις λειτουργίες διαχείρισης να επιτρέπεται μόνο σε εξουσιοδοτημένους χρήστες.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6237725" y="3253725"/>
            <a:ext cx="2734500" cy="154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Το σύστημα πρέπει να υποστηρίζει ταυτόχρονη εξυπηρέτηση πολλών χρηστών χωρίς σφάλματα ή διακοπές λειτουργίας.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6784838" y="3156025"/>
            <a:ext cx="1588140" cy="436374"/>
          </a:xfrm>
          <a:prstGeom prst="flowChartTerminator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900">
                <a:solidFill>
                  <a:schemeClr val="dk1"/>
                </a:solidFill>
              </a:rPr>
              <a:t>6. Αξιολογήσεις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3742150" y="1140523"/>
            <a:ext cx="1659690" cy="436374"/>
          </a:xfrm>
          <a:prstGeom prst="flowChartTerminator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</a:rPr>
              <a:t>2.Ασφάλεια</a:t>
            </a:r>
            <a:endParaRPr b="1"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365760" y="91440"/>
            <a:ext cx="8412120" cy="73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Κύριες Λειτουργίες Εφαρμογής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228600" y="1051560"/>
            <a:ext cx="2788560" cy="1691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228600" y="1051560"/>
            <a:ext cx="2788560" cy="456840"/>
          </a:xfrm>
          <a:prstGeom prst="rect">
            <a:avLst/>
          </a:prstGeom>
          <a:solidFill>
            <a:srgbClr val="0E7490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320040" y="1069920"/>
            <a:ext cx="260568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🔍  Αναζήτηση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365760" y="1581840"/>
            <a:ext cx="255996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Φίλτρα τιμής, περιοχής, μεγέθους, τύπου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3200400" y="1051560"/>
            <a:ext cx="2788560" cy="1691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3200400" y="1051560"/>
            <a:ext cx="2788560" cy="45684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3291840" y="1069920"/>
            <a:ext cx="260568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🏠  Αγγελίες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3337560" y="1581840"/>
            <a:ext cx="255996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Δημοσίευση Home / Business / Parking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6172200" y="1051560"/>
            <a:ext cx="2788560" cy="1691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6172200" y="1051560"/>
            <a:ext cx="2788560" cy="45684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6263640" y="1069920"/>
            <a:ext cx="260568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❤️  Favorites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6309360" y="1581840"/>
            <a:ext cx="255996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Αποθήκευση αγαπημένων αγγελιών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228600" y="2926080"/>
            <a:ext cx="2788560" cy="1691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228600" y="2926080"/>
            <a:ext cx="2788560" cy="45684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320040" y="2944440"/>
            <a:ext cx="260568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⭐  Αξιολόγηση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365760" y="3456360"/>
            <a:ext cx="255996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Stars, Comments, Likes σε αγγελίες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3200400" y="2926080"/>
            <a:ext cx="2788560" cy="1691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3200400" y="2926080"/>
            <a:ext cx="2788560" cy="4568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3291840" y="2944440"/>
            <a:ext cx="260568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🚩  Αναφορές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3337560" y="3456360"/>
            <a:ext cx="255996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Report αγγελιών – διαχείριση από Admin/Support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6172200" y="2926080"/>
            <a:ext cx="2788560" cy="1691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6172200" y="2926080"/>
            <a:ext cx="2788560" cy="45684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6263640" y="2944440"/>
            <a:ext cx="260568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🔐  Ρόλοι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6309360" y="3456360"/>
            <a:ext cx="255996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Buyer / Seller / Admin / Support με διαφορετικά δικαιώματα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365760" y="91440"/>
            <a:ext cx="8412120" cy="73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RUP – Rational Unified Process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228600" y="1051560"/>
            <a:ext cx="2011200" cy="374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228600" y="1051560"/>
            <a:ext cx="2011320" cy="685440"/>
          </a:xfrm>
          <a:prstGeom prst="rect">
            <a:avLst/>
          </a:prstGeom>
          <a:solidFill>
            <a:srgbClr val="0E7490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274320" y="1069920"/>
            <a:ext cx="54828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777240" y="1069920"/>
            <a:ext cx="137124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Inception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338400" y="1828800"/>
            <a:ext cx="18284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Noto Sans Symbols"/>
              <a:buChar char="∙"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Ορισμός scope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338400" y="2359080"/>
            <a:ext cx="18284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Noto Sans Symbols"/>
              <a:buChar char="∙"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Αναγνώριση χρηστών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338400" y="2889360"/>
            <a:ext cx="18284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Noto Sans Symbols"/>
              <a:buChar char="∙"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Καταγραφή use cases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2423160" y="1051560"/>
            <a:ext cx="2011200" cy="374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2423160" y="1051560"/>
            <a:ext cx="2011320" cy="6854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2468880" y="1069920"/>
            <a:ext cx="54828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📐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2971800" y="1069920"/>
            <a:ext cx="137124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Elaboration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2532960" y="1828800"/>
            <a:ext cx="18284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Noto Sans Symbols"/>
              <a:buChar char="∙"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Ανάλυση απαιτήσεων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2532960" y="2359080"/>
            <a:ext cx="18284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Noto Sans Symbols"/>
              <a:buChar char="∙"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Αρχιτεκτονικό σχέδιο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2532960" y="2889360"/>
            <a:ext cx="18284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Noto Sans Symbols"/>
              <a:buChar char="∙"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Βασικά UML diagrams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4617720" y="1051560"/>
            <a:ext cx="2011320" cy="374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4617720" y="1051560"/>
            <a:ext cx="2011320" cy="68544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4663440" y="1069920"/>
            <a:ext cx="54828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5166360" y="1069920"/>
            <a:ext cx="137124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Construction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4727520" y="1828800"/>
            <a:ext cx="18284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Noto Sans Symbols"/>
              <a:buChar char="∙"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Κωδικοποίηση κλάσεων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4727520" y="2359080"/>
            <a:ext cx="18284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Noto Sans Symbols"/>
              <a:buChar char="∙"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React frontend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4709058" y="3246110"/>
            <a:ext cx="1828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Noto Sans Symbols"/>
              <a:buChar char="∙"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Java backend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4709058" y="2766975"/>
            <a:ext cx="1828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Noto Sans Symbols"/>
              <a:buChar char="∙"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6812280" y="1051560"/>
            <a:ext cx="2011200" cy="374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6812280" y="1051560"/>
            <a:ext cx="2011320" cy="68544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6858000" y="1069920"/>
            <a:ext cx="54828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7360920" y="1069920"/>
            <a:ext cx="137124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Transition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6922080" y="1828800"/>
            <a:ext cx="18284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Noto Sans Symbols"/>
              <a:buChar char="∙"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6922080" y="2359080"/>
            <a:ext cx="18284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Noto Sans Symbols"/>
              <a:buChar char="∙"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6922080" y="2810400"/>
            <a:ext cx="1828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Noto Sans Symbols"/>
              <a:buChar char="∙"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/>
          <p:nvPr/>
        </p:nvSpPr>
        <p:spPr>
          <a:xfrm>
            <a:off x="0" y="0"/>
            <a:ext cx="9143700" cy="9141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365760" y="91440"/>
            <a:ext cx="84120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 UML Diagrams</a:t>
            </a:r>
            <a:endParaRPr b="1"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228600" y="1051560"/>
            <a:ext cx="2788500" cy="11700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338400" y="1307520"/>
            <a:ext cx="502500" cy="502500"/>
          </a:xfrm>
          <a:prstGeom prst="ellipse">
            <a:avLst/>
          </a:prstGeom>
          <a:solidFill>
            <a:srgbClr val="0E7490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338400" y="1307520"/>
            <a:ext cx="502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941760" y="1188720"/>
            <a:ext cx="19656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Case Diagram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941760" y="1710000"/>
            <a:ext cx="196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Phase: Inception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3200400" y="1051560"/>
            <a:ext cx="2788500" cy="11700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3310200" y="1307520"/>
            <a:ext cx="502500" cy="502500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3310200" y="1307520"/>
            <a:ext cx="502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3913560" y="1188720"/>
            <a:ext cx="19656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Diagram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3913560" y="1710000"/>
            <a:ext cx="196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Phase: Elaboration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6172200" y="1051560"/>
            <a:ext cx="2788500" cy="11700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6282000" y="1307520"/>
            <a:ext cx="502500" cy="50250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6282000" y="1307520"/>
            <a:ext cx="502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6885360" y="1188720"/>
            <a:ext cx="19656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 Diagram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6885360" y="1710000"/>
            <a:ext cx="196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Phase: Elaboration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228600" y="2377440"/>
            <a:ext cx="2788500" cy="11700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338400" y="2633400"/>
            <a:ext cx="502500" cy="502500"/>
          </a:xfrm>
          <a:prstGeom prst="ellipse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338400" y="2633400"/>
            <a:ext cx="502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941760" y="2514600"/>
            <a:ext cx="19656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Sequence Diagram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941760" y="3035880"/>
            <a:ext cx="196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Phase: Construction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3200400" y="2377440"/>
            <a:ext cx="2788500" cy="11700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3310200" y="2633400"/>
            <a:ext cx="502500" cy="502500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3310200" y="2633400"/>
            <a:ext cx="502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3913560" y="2514600"/>
            <a:ext cx="19656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Activity Diagram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3913560" y="3035880"/>
            <a:ext cx="196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Phase: Construction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6172200" y="2377440"/>
            <a:ext cx="2788500" cy="11700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6282000" y="2633400"/>
            <a:ext cx="502500" cy="50250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6282000" y="2633400"/>
            <a:ext cx="502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6885360" y="2514600"/>
            <a:ext cx="19656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Statechart Diagram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6885360" y="3035880"/>
            <a:ext cx="196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Phase: Construction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228600" y="3703320"/>
            <a:ext cx="2788500" cy="11700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338400" y="3959280"/>
            <a:ext cx="502500" cy="502500"/>
          </a:xfrm>
          <a:prstGeom prst="ellipse">
            <a:avLst/>
          </a:prstGeom>
          <a:solidFill>
            <a:srgbClr val="0E7490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338400" y="3959280"/>
            <a:ext cx="502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941760" y="3840480"/>
            <a:ext cx="19656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 Diagram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941760" y="4361760"/>
            <a:ext cx="196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Phase: Elaboration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3200400" y="3703320"/>
            <a:ext cx="2788500" cy="11700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3310200" y="3959280"/>
            <a:ext cx="502500" cy="502500"/>
          </a:xfrm>
          <a:prstGeom prst="ellipse">
            <a:avLst/>
          </a:prstGeom>
          <a:solidFill>
            <a:srgbClr val="6B21A8"/>
          </a:solidFill>
          <a:ln cap="flat" cmpd="sng" w="12700">
            <a:solidFill>
              <a:srgbClr val="6B21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3310200" y="3959280"/>
            <a:ext cx="502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3913560" y="3840480"/>
            <a:ext cx="19656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Diagram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3913560" y="4361760"/>
            <a:ext cx="196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Phase: Transition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6172200" y="3703320"/>
            <a:ext cx="2788500" cy="11700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6282000" y="3959280"/>
            <a:ext cx="502500" cy="502500"/>
          </a:xfrm>
          <a:prstGeom prst="ellipse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6282000" y="3959280"/>
            <a:ext cx="502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6885360" y="3840480"/>
            <a:ext cx="19656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Communication Diagram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6885360" y="4361760"/>
            <a:ext cx="196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Phase: Construction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365760" y="91440"/>
            <a:ext cx="8412120" cy="73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 Case Diagram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13" title="UseCase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8200" y="1052140"/>
            <a:ext cx="4507588" cy="3924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"/>
          <p:cNvSpPr/>
          <p:nvPr/>
        </p:nvSpPr>
        <p:spPr>
          <a:xfrm>
            <a:off x="0" y="0"/>
            <a:ext cx="9143700" cy="9141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365760" y="91440"/>
            <a:ext cx="84120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 Diagram – Χρήστες</a:t>
            </a:r>
            <a:endParaRPr b="1"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182880" y="1051560"/>
            <a:ext cx="2057100" cy="374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182880" y="1051560"/>
            <a:ext cx="2057100" cy="45690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228600" y="1069920"/>
            <a:ext cx="19656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(Abstract)</a:t>
            </a:r>
            <a:endParaRPr b="0" sz="1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228600" y="1572840"/>
            <a:ext cx="196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endParaRPr b="0" sz="9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274320" y="1847160"/>
            <a:ext cx="1920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Id: Int final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274320" y="2103120"/>
            <a:ext cx="1920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PassHash: String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274320" y="2359080"/>
            <a:ext cx="1920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Role: Char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274320" y="2615040"/>
            <a:ext cx="1920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UserName, Name, SurName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274320" y="2871360"/>
            <a:ext cx="1920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Email, Birthday, Phone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p14"/>
          <p:cNvCxnSpPr/>
          <p:nvPr/>
        </p:nvCxnSpPr>
        <p:spPr>
          <a:xfrm>
            <a:off x="274320" y="3246120"/>
            <a:ext cx="1874400" cy="300"/>
          </a:xfrm>
          <a:prstGeom prst="straightConnector1">
            <a:avLst/>
          </a:prstGeom>
          <a:noFill/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14"/>
          <p:cNvSpPr/>
          <p:nvPr/>
        </p:nvSpPr>
        <p:spPr>
          <a:xfrm>
            <a:off x="228600" y="3291840"/>
            <a:ext cx="196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endParaRPr b="0" sz="9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274320" y="3566160"/>
            <a:ext cx="192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Getters/Setters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274320" y="3803760"/>
            <a:ext cx="192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ViewProfile()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274320" y="4041720"/>
            <a:ext cx="192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SettingEdit()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2395800" y="1051560"/>
            <a:ext cx="2057100" cy="374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2395800" y="1051560"/>
            <a:ext cx="2057100" cy="456900"/>
          </a:xfrm>
          <a:prstGeom prst="rect">
            <a:avLst/>
          </a:prstGeom>
          <a:solidFill>
            <a:srgbClr val="0E7490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2441520" y="1069920"/>
            <a:ext cx="19656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Buyer</a:t>
            </a:r>
            <a:endParaRPr b="0" sz="1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2441520" y="1572840"/>
            <a:ext cx="196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endParaRPr b="0" sz="9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2487240" y="1847160"/>
            <a:ext cx="1920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Wishlist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p14"/>
          <p:cNvCxnSpPr/>
          <p:nvPr/>
        </p:nvCxnSpPr>
        <p:spPr>
          <a:xfrm>
            <a:off x="2486880" y="2221920"/>
            <a:ext cx="1874400" cy="300"/>
          </a:xfrm>
          <a:prstGeom prst="straightConnector1">
            <a:avLst/>
          </a:prstGeom>
          <a:noFill/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4"/>
          <p:cNvSpPr/>
          <p:nvPr/>
        </p:nvSpPr>
        <p:spPr>
          <a:xfrm>
            <a:off x="2441520" y="2267640"/>
            <a:ext cx="196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endParaRPr b="0" sz="9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2487240" y="2541960"/>
            <a:ext cx="192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AddWishlist()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2487240" y="2779920"/>
            <a:ext cx="192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RemoveWishlist()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2487240" y="3017520"/>
            <a:ext cx="192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Like()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2487240" y="3255120"/>
            <a:ext cx="192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Negotiation()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2487240" y="3493080"/>
            <a:ext cx="192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Message()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2487240" y="3730680"/>
            <a:ext cx="192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Rating()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4608720" y="1051560"/>
            <a:ext cx="2057100" cy="374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4608720" y="1051560"/>
            <a:ext cx="2057100" cy="4569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4654440" y="1069920"/>
            <a:ext cx="19656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Seller</a:t>
            </a:r>
            <a:endParaRPr b="0" sz="1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4654440" y="1572840"/>
            <a:ext cx="196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endParaRPr b="0" sz="9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4700160" y="1847160"/>
            <a:ext cx="1920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TaxId: String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4700160" y="2103120"/>
            <a:ext cx="1920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IBan: String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4700160" y="2359080"/>
            <a:ext cx="1920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Rating: Double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" name="Google Shape;294;p14"/>
          <p:cNvCxnSpPr/>
          <p:nvPr/>
        </p:nvCxnSpPr>
        <p:spPr>
          <a:xfrm>
            <a:off x="4699800" y="2733840"/>
            <a:ext cx="1874400" cy="300"/>
          </a:xfrm>
          <a:prstGeom prst="straightConnector1">
            <a:avLst/>
          </a:prstGeom>
          <a:noFill/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4"/>
          <p:cNvSpPr/>
          <p:nvPr/>
        </p:nvSpPr>
        <p:spPr>
          <a:xfrm>
            <a:off x="4654440" y="2779920"/>
            <a:ext cx="196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endParaRPr b="0" sz="9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4700160" y="3054240"/>
            <a:ext cx="192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Get/Set TaxId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4700160" y="3291840"/>
            <a:ext cx="192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Add/Remove/Reserve Listing()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4700160" y="3529440"/>
            <a:ext cx="192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ChangeIban()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4700160" y="3767400"/>
            <a:ext cx="192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ViewRating()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6821280" y="1051560"/>
            <a:ext cx="2057100" cy="374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6821280" y="1051560"/>
            <a:ext cx="2057100" cy="4569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6867000" y="1069920"/>
            <a:ext cx="19656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b="0" sz="1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6867000" y="1572840"/>
            <a:ext cx="196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endParaRPr b="0" sz="9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6912720" y="1847160"/>
            <a:ext cx="1920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Key: String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14"/>
          <p:cNvCxnSpPr/>
          <p:nvPr/>
        </p:nvCxnSpPr>
        <p:spPr>
          <a:xfrm>
            <a:off x="6912720" y="2221920"/>
            <a:ext cx="1874400" cy="300"/>
          </a:xfrm>
          <a:prstGeom prst="straightConnector1">
            <a:avLst/>
          </a:prstGeom>
          <a:noFill/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14"/>
          <p:cNvSpPr/>
          <p:nvPr/>
        </p:nvSpPr>
        <p:spPr>
          <a:xfrm>
            <a:off x="6867000" y="2267640"/>
            <a:ext cx="196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 u="none" strike="noStrike">
                <a:solidFill>
                  <a:srgbClr val="E8A838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endParaRPr b="0" sz="9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6912720" y="2541960"/>
            <a:ext cx="192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RemoveUser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6912720" y="2779920"/>
            <a:ext cx="192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AddUser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6912720" y="3017520"/>
            <a:ext cx="192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UpdateUser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6912720" y="3255120"/>
            <a:ext cx="192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RemoveListing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6912720" y="3493080"/>
            <a:ext cx="1920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UpdateListing</a:t>
            </a:r>
            <a:endParaRPr b="0" sz="9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365760" y="91440"/>
            <a:ext cx="8412120" cy="73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 Diagram</a:t>
            </a:r>
            <a:r>
              <a:rPr b="1" lang="en-US" sz="26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– Ακίνητα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182880" y="1051560"/>
            <a:ext cx="3657300" cy="374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182880" y="1051560"/>
            <a:ext cx="3657240" cy="45684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274320" y="1069920"/>
            <a:ext cx="3474360" cy="41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Listing (Abstract)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320040" y="1581840"/>
            <a:ext cx="338292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– ListingId, ListingType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320040" y="1856160"/>
            <a:ext cx="338292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– Price: int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320040" y="2130480"/>
            <a:ext cx="338292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– Title, Description: String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320040" y="2404800"/>
            <a:ext cx="338292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– Size: int, Floor: String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320040" y="2679120"/>
            <a:ext cx="338292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– HasElevator: boolean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320040" y="2953440"/>
            <a:ext cx="338292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– Year: int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320040" y="3227760"/>
            <a:ext cx="338292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– Municipality, City, Address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320040" y="3502080"/>
            <a:ext cx="338292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– Status: String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15"/>
          <p:cNvCxnSpPr/>
          <p:nvPr/>
        </p:nvCxnSpPr>
        <p:spPr>
          <a:xfrm>
            <a:off x="274320" y="3840480"/>
            <a:ext cx="3474720" cy="360"/>
          </a:xfrm>
          <a:prstGeom prst="straightConnector1">
            <a:avLst/>
          </a:prstGeom>
          <a:noFill/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15"/>
          <p:cNvSpPr/>
          <p:nvPr/>
        </p:nvSpPr>
        <p:spPr>
          <a:xfrm>
            <a:off x="320040" y="3913560"/>
            <a:ext cx="33829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+ Delete(): Abstract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320040" y="4123800"/>
            <a:ext cx="33829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+ Update()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320040" y="4334400"/>
            <a:ext cx="33829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+ AddImg()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320040" y="4544640"/>
            <a:ext cx="338292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+ ChangeStatus()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4251960" y="1051560"/>
            <a:ext cx="4663080" cy="1188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4251960" y="1051560"/>
            <a:ext cx="4663080" cy="383760"/>
          </a:xfrm>
          <a:prstGeom prst="rect">
            <a:avLst/>
          </a:prstGeom>
          <a:solidFill>
            <a:srgbClr val="0E7490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4343400" y="1069920"/>
            <a:ext cx="44802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4389120" y="1490400"/>
            <a:ext cx="43887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– Bedrooms: int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4389120" y="1728360"/>
            <a:ext cx="43887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– Bathrooms: int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4389120" y="1965960"/>
            <a:ext cx="43887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– HeatingType: String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4251960" y="2377440"/>
            <a:ext cx="4663080" cy="1188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4251960" y="2377440"/>
            <a:ext cx="4663080" cy="3837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4343400" y="2395800"/>
            <a:ext cx="44802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4389120" y="2816280"/>
            <a:ext cx="43887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– Rooms: int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4389120" y="3054240"/>
            <a:ext cx="43887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– Bathrooms: int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4389120" y="3291840"/>
            <a:ext cx="43887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– HeatingType: String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4251960" y="3703320"/>
            <a:ext cx="4663080" cy="1188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4251960" y="3703320"/>
            <a:ext cx="4663080" cy="38376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4343400" y="3721680"/>
            <a:ext cx="44802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Parking</a:t>
            </a:r>
            <a:endParaRPr b="0" sz="13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4389120" y="4142160"/>
            <a:ext cx="43887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– ParkingSpots: Int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4389120" y="4380120"/>
            <a:ext cx="43887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– HeightLimit: Int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4389120" y="4617720"/>
            <a:ext cx="438876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– WidthLimit: Int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6"/>
          <p:cNvSpPr/>
          <p:nvPr/>
        </p:nvSpPr>
        <p:spPr>
          <a:xfrm>
            <a:off x="0" y="7154"/>
            <a:ext cx="9143700" cy="9141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365760" y="91440"/>
            <a:ext cx="84120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 Diagram –</a:t>
            </a:r>
            <a:r>
              <a:rPr lang="en-US" sz="2600">
                <a:solidFill>
                  <a:schemeClr val="dk1"/>
                </a:solidFill>
              </a:rPr>
              <a:t> </a:t>
            </a:r>
            <a:r>
              <a:rPr b="1"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Υποστηρικτικές Κλάσεις</a:t>
            </a:r>
            <a:endParaRPr b="1"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182880" y="1051560"/>
            <a:ext cx="2834400" cy="1782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182880" y="1051560"/>
            <a:ext cx="2834400" cy="383700"/>
          </a:xfrm>
          <a:prstGeom prst="rect">
            <a:avLst/>
          </a:prstGeom>
          <a:solidFill>
            <a:srgbClr val="0E7490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228600" y="1069920"/>
            <a:ext cx="27429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SearchEngine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274320" y="149040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– allListings: List&lt;Listing&gt;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4" name="Google Shape;364;p16"/>
          <p:cNvCxnSpPr/>
          <p:nvPr/>
        </p:nvCxnSpPr>
        <p:spPr>
          <a:xfrm>
            <a:off x="274320" y="1728000"/>
            <a:ext cx="2651700" cy="300"/>
          </a:xfrm>
          <a:prstGeom prst="straightConnector1">
            <a:avLst/>
          </a:prstGeom>
          <a:noFill/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" name="Google Shape;365;p16"/>
          <p:cNvSpPr/>
          <p:nvPr/>
        </p:nvSpPr>
        <p:spPr>
          <a:xfrm>
            <a:off x="274320" y="180144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+ AddListingToCatalog()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274320" y="202068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+ RemoveListingFromCatalog()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3182040" y="1051560"/>
            <a:ext cx="2834400" cy="1782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3182040" y="1051560"/>
            <a:ext cx="2834400" cy="3837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3227760" y="1069920"/>
            <a:ext cx="27429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«Interface»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Searchable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3273480" y="149040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+ FilterByPrice(maxPrice)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3273480" y="171000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+ FilterByArea(area)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3273480" y="192924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+ FilterBySize(size)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6181200" y="1051560"/>
            <a:ext cx="2834400" cy="1782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6181200" y="1051560"/>
            <a:ext cx="2834400" cy="38370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6226920" y="1069920"/>
            <a:ext cx="27429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Favorite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6272640" y="149040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– DateAdded: String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" name="Google Shape;377;p16"/>
          <p:cNvCxnSpPr/>
          <p:nvPr/>
        </p:nvCxnSpPr>
        <p:spPr>
          <a:xfrm>
            <a:off x="6272640" y="1728000"/>
            <a:ext cx="2651700" cy="300"/>
          </a:xfrm>
          <a:prstGeom prst="straightConnector1">
            <a:avLst/>
          </a:prstGeom>
          <a:noFill/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16"/>
          <p:cNvSpPr/>
          <p:nvPr/>
        </p:nvSpPr>
        <p:spPr>
          <a:xfrm>
            <a:off x="6272640" y="180144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+ OpenListing()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182875" y="3017525"/>
            <a:ext cx="2834400" cy="193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182880" y="3017520"/>
            <a:ext cx="2834400" cy="3837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228600" y="3035880"/>
            <a:ext cx="27429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Rating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274320" y="345636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– Stars: int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274320" y="367596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– Comment: String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274320" y="389520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– Likes: int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" name="Google Shape;385;p16"/>
          <p:cNvCxnSpPr/>
          <p:nvPr/>
        </p:nvCxnSpPr>
        <p:spPr>
          <a:xfrm>
            <a:off x="274320" y="4132800"/>
            <a:ext cx="2651700" cy="300"/>
          </a:xfrm>
          <a:prstGeom prst="straightConnector1">
            <a:avLst/>
          </a:prstGeom>
          <a:noFill/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" name="Google Shape;386;p16"/>
          <p:cNvSpPr/>
          <p:nvPr/>
        </p:nvSpPr>
        <p:spPr>
          <a:xfrm>
            <a:off x="274320" y="420624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+ AddStars()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274320" y="442584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+ AddComment()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274320" y="464508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+ AddLikes()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3182050" y="3017525"/>
            <a:ext cx="2834400" cy="193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3182040" y="3017520"/>
            <a:ext cx="2834400" cy="3837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3227760" y="3035880"/>
            <a:ext cx="27429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3273480" y="345636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– ReportId: int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3273480" y="367596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– Reason: String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3273480" y="389520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– Status: String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3273480" y="411480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– DateCreated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6" name="Google Shape;396;p16"/>
          <p:cNvCxnSpPr/>
          <p:nvPr/>
        </p:nvCxnSpPr>
        <p:spPr>
          <a:xfrm>
            <a:off x="3273480" y="4352400"/>
            <a:ext cx="2651700" cy="300"/>
          </a:xfrm>
          <a:prstGeom prst="straightConnector1">
            <a:avLst/>
          </a:prstGeom>
          <a:noFill/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16"/>
          <p:cNvSpPr/>
          <p:nvPr/>
        </p:nvSpPr>
        <p:spPr>
          <a:xfrm>
            <a:off x="3273480" y="442584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+ UpdateStatus()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6181200" y="3017525"/>
            <a:ext cx="2834400" cy="193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6181200" y="3017520"/>
            <a:ext cx="2834400" cy="383700"/>
          </a:xfrm>
          <a:prstGeom prst="rect">
            <a:avLst/>
          </a:prstGeom>
          <a:solidFill>
            <a:srgbClr val="6B7280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6226920" y="3035880"/>
            <a:ext cx="27429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6272640" y="345636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– UrlImg: String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p16"/>
          <p:cNvCxnSpPr/>
          <p:nvPr/>
        </p:nvCxnSpPr>
        <p:spPr>
          <a:xfrm>
            <a:off x="6272640" y="3693960"/>
            <a:ext cx="2651700" cy="300"/>
          </a:xfrm>
          <a:prstGeom prst="straightConnector1">
            <a:avLst/>
          </a:prstGeom>
          <a:noFill/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16"/>
          <p:cNvSpPr/>
          <p:nvPr/>
        </p:nvSpPr>
        <p:spPr>
          <a:xfrm>
            <a:off x="6272640" y="3767400"/>
            <a:ext cx="2651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+ RemoveImg()</a:t>
            </a:r>
            <a:endParaRPr b="0" sz="900" u="none" strike="noStrike">
              <a:solidFill>
                <a:srgbClr val="0D1B2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7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365760" y="91440"/>
            <a:ext cx="8412120" cy="73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Diagram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1" name="Google Shape;411;p17" title="Class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4500" y="1016350"/>
            <a:ext cx="6474977" cy="405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8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365760" y="91440"/>
            <a:ext cx="8412120" cy="73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 Diagram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" name="Google Shape;419;p18" title="Object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1400" y="1052140"/>
            <a:ext cx="4421176" cy="3924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9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365760" y="91440"/>
            <a:ext cx="8412120" cy="73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Sequence Diagram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" name="Google Shape;427;p19" title="Sequence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9238" y="1030665"/>
            <a:ext cx="4305147" cy="3924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0"/>
          <p:cNvSpPr/>
          <p:nvPr/>
        </p:nvSpPr>
        <p:spPr>
          <a:xfrm>
            <a:off x="365760" y="91440"/>
            <a:ext cx="8412120" cy="73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Activity Diagram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p20" title="Activity Diagram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8025" y="1066440"/>
            <a:ext cx="3371520" cy="3924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0" title="Activity Diagram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9720" y="1066440"/>
            <a:ext cx="3278244" cy="3924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1"/>
          <p:cNvSpPr/>
          <p:nvPr/>
        </p:nvSpPr>
        <p:spPr>
          <a:xfrm>
            <a:off x="365760" y="91440"/>
            <a:ext cx="8412120" cy="73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Statechart Diagram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p21" title="Statechart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5625" y="1044990"/>
            <a:ext cx="4212747" cy="3924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2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2"/>
          <p:cNvSpPr/>
          <p:nvPr/>
        </p:nvSpPr>
        <p:spPr>
          <a:xfrm>
            <a:off x="365760" y="91440"/>
            <a:ext cx="8412120" cy="73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 Diagram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2" name="Google Shape;452;p22" title="Component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750" y="1016365"/>
            <a:ext cx="5294117" cy="3924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3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3"/>
          <p:cNvSpPr/>
          <p:nvPr/>
        </p:nvSpPr>
        <p:spPr>
          <a:xfrm>
            <a:off x="365760" y="91440"/>
            <a:ext cx="8412120" cy="73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 Diagram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0" name="Google Shape;460;p23" title="Deployment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7300" y="1059290"/>
            <a:ext cx="3309026" cy="3924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4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365760" y="91440"/>
            <a:ext cx="8412120" cy="73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Communication Diagram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8" name="Google Shape;468;p24" title="Communication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400" y="1044990"/>
            <a:ext cx="4877208" cy="3924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5"/>
          <p:cNvSpPr/>
          <p:nvPr/>
        </p:nvSpPr>
        <p:spPr>
          <a:xfrm>
            <a:off x="0" y="0"/>
            <a:ext cx="9143700" cy="9141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5"/>
          <p:cNvSpPr/>
          <p:nvPr/>
        </p:nvSpPr>
        <p:spPr>
          <a:xfrm>
            <a:off x="365760" y="91440"/>
            <a:ext cx="84120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</a:rPr>
              <a:t>Preview - Home Page</a:t>
            </a:r>
            <a:endParaRPr b="0" sz="26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6" name="Google Shape;47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7813" y="1044700"/>
            <a:ext cx="5528368" cy="392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6"/>
          <p:cNvSpPr/>
          <p:nvPr/>
        </p:nvSpPr>
        <p:spPr>
          <a:xfrm>
            <a:off x="0" y="0"/>
            <a:ext cx="9143700" cy="9141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6"/>
          <p:cNvSpPr/>
          <p:nvPr/>
        </p:nvSpPr>
        <p:spPr>
          <a:xfrm>
            <a:off x="365760" y="91440"/>
            <a:ext cx="84120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</a:rPr>
              <a:t>Preview - Sign Up/ Sign In</a:t>
            </a:r>
            <a:endParaRPr b="0" sz="26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4" name="Google Shape;4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375" y="1045525"/>
            <a:ext cx="5539248" cy="39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7"/>
          <p:cNvSpPr/>
          <p:nvPr/>
        </p:nvSpPr>
        <p:spPr>
          <a:xfrm>
            <a:off x="0" y="0"/>
            <a:ext cx="9143700" cy="9141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7"/>
          <p:cNvSpPr/>
          <p:nvPr/>
        </p:nvSpPr>
        <p:spPr>
          <a:xfrm>
            <a:off x="365760" y="91440"/>
            <a:ext cx="84120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</a:rPr>
              <a:t>Preview - Listings View</a:t>
            </a:r>
            <a:endParaRPr b="0" sz="26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2" name="Google Shape;49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5638" y="1082325"/>
            <a:ext cx="5532223" cy="392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8"/>
          <p:cNvSpPr/>
          <p:nvPr/>
        </p:nvSpPr>
        <p:spPr>
          <a:xfrm>
            <a:off x="0" y="0"/>
            <a:ext cx="9143700" cy="9141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8"/>
          <p:cNvSpPr/>
          <p:nvPr/>
        </p:nvSpPr>
        <p:spPr>
          <a:xfrm>
            <a:off x="365760" y="91440"/>
            <a:ext cx="84120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</a:rPr>
              <a:t>Preview - Listing Details</a:t>
            </a:r>
            <a:endParaRPr b="0" sz="26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Google Shape;50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5100" y="1059525"/>
            <a:ext cx="5533802" cy="39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9"/>
          <p:cNvSpPr/>
          <p:nvPr/>
        </p:nvSpPr>
        <p:spPr>
          <a:xfrm>
            <a:off x="0" y="0"/>
            <a:ext cx="9143700" cy="9141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9"/>
          <p:cNvSpPr/>
          <p:nvPr/>
        </p:nvSpPr>
        <p:spPr>
          <a:xfrm>
            <a:off x="366010" y="91490"/>
            <a:ext cx="84120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</a:rPr>
              <a:t>Preview - Settings Menu</a:t>
            </a:r>
            <a:endParaRPr b="0" sz="2600" u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8" name="Google Shape;50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175" y="1080475"/>
            <a:ext cx="5537661" cy="39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0"/>
          <p:cNvSpPr/>
          <p:nvPr/>
        </p:nvSpPr>
        <p:spPr>
          <a:xfrm>
            <a:off x="365760" y="457200"/>
            <a:ext cx="8412120" cy="73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Τέλος Παρουσίασης</a:t>
            </a:r>
            <a:endParaRPr b="0" sz="3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0"/>
          <p:cNvSpPr/>
          <p:nvPr/>
        </p:nvSpPr>
        <p:spPr>
          <a:xfrm>
            <a:off x="1947230" y="2173663"/>
            <a:ext cx="4205100" cy="5025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</a:rPr>
              <a:t>Νικόλαος Ζολώτας Π23050</a:t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0"/>
          <p:cNvSpPr/>
          <p:nvPr/>
        </p:nvSpPr>
        <p:spPr>
          <a:xfrm>
            <a:off x="0" y="4754880"/>
            <a:ext cx="9143640" cy="388440"/>
          </a:xfrm>
          <a:prstGeom prst="rect">
            <a:avLst/>
          </a:prstGeom>
          <a:solidFill>
            <a:srgbClr val="1B3A5C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rgbClr val="A0B4C8"/>
                </a:solidFill>
                <a:latin typeface="Calibri"/>
                <a:ea typeface="Calibri"/>
                <a:cs typeface="Calibri"/>
                <a:sym typeface="Calibri"/>
              </a:rPr>
              <a:t>Ανάπτυξη Λογισμικού</a:t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0"/>
          <p:cNvSpPr/>
          <p:nvPr/>
        </p:nvSpPr>
        <p:spPr>
          <a:xfrm>
            <a:off x="2469449" y="2851450"/>
            <a:ext cx="4205100" cy="5025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</a:rPr>
              <a:t>Βιργινία Χιρβατίδη Π23197</a:t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0"/>
          <p:cNvSpPr/>
          <p:nvPr/>
        </p:nvSpPr>
        <p:spPr>
          <a:xfrm>
            <a:off x="3156200" y="3529225"/>
            <a:ext cx="4205100" cy="5025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B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</a:rPr>
              <a:t>Στυλιανός Σδούγκος Π23169</a:t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0"/>
          <p:cNvSpPr txBox="1"/>
          <p:nvPr/>
        </p:nvSpPr>
        <p:spPr>
          <a:xfrm>
            <a:off x="2469450" y="1156475"/>
            <a:ext cx="595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Υπεύθυνος Καθηγητής: </a:t>
            </a:r>
            <a:r>
              <a:rPr lang="en-US" sz="1600">
                <a:solidFill>
                  <a:schemeClr val="accent4"/>
                </a:solidFill>
              </a:rPr>
              <a:t>Ευθύμιος Αλέπης</a:t>
            </a:r>
            <a:r>
              <a:rPr lang="en-US" sz="16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